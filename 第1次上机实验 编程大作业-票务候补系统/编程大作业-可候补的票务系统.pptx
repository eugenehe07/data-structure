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3210" y="1891030"/>
            <a:ext cx="1156462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000000"/>
                </a:solidFill>
                <a:latin typeface="微软雅黑"/>
                <a:ea typeface="微软雅黑"/>
              </a:rPr>
              <a:t>一、问题描述</a:t>
            </a:r>
            <a:endParaRPr lang="en-US" sz="16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某演出场馆发售一场演出的门票，座位共S个，编号为1至S。售票期间陆续收到购票和退票请求：购票时若有空座则立即出票，没有空座则进入候补名单等待；有人退票时，空出的座位立即按候补顺序兑现。</a:t>
            </a:r>
            <a:endParaRPr lang="en-US" sz="1600" noProof="1"/>
          </a:p>
          <a:p>
            <a:pPr marL="28575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试编写一个简单的售票程序：读入座位总数和一组命令，按顺序执行，最后输出已出票名单和候补名单。本题只要求购票和退票两种操作，不要求图形界面。</a:t>
            </a:r>
            <a:endParaRPr lang="en-US" sz="1600" noProof="1"/>
          </a:p>
        </p:txBody>
      </p:sp>
      <p:sp>
        <p:nvSpPr>
          <p:cNvPr id="3" name="文本框 3"/>
          <p:cNvSpPr txBox="1"/>
          <p:nvPr/>
        </p:nvSpPr>
        <p:spPr>
          <a:xfrm>
            <a:off x="499110" y="450850"/>
            <a:ext cx="11183620" cy="798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4400" b="1" noProof="1">
                <a:solidFill>
                  <a:srgbClr val="202622"/>
                </a:solidFill>
                <a:latin typeface="微软雅黑"/>
                <a:ea typeface="微软雅黑"/>
              </a:rPr>
              <a:t>编程大作业：可候补的票务系统</a:t>
            </a:r>
            <a:endParaRPr lang="en-US" sz="44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10820" y="162560"/>
            <a:ext cx="11564620" cy="4493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000000"/>
                </a:solidFill>
                <a:latin typeface="微软雅黑"/>
                <a:ea typeface="微软雅黑"/>
              </a:rPr>
              <a:t>二、操作规定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座位编号为1至S，初始全部空闲。所有座位状态均以命令执行时为准，出票或退票后，空座情况随之变化。</a:t>
            </a:r>
            <a:endParaRPr lang="en-US" sz="1600" noProof="1"/>
          </a:p>
          <a:p>
            <a:pPr marL="4572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执行BUY时：若存在空座，将当前最小的空座号分配给该购票人，订单加入已售名单；若无空座，该购票人排入候补队列末尾。</a:t>
            </a:r>
            <a:endParaRPr lang="en-US" sz="1600" noProof="1"/>
          </a:p>
          <a:p>
            <a:pPr marL="4572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执行REFUND时：从已售名单中删除该购票人的订单并释放其座位；随后若候补队列非空，队首购票人出队并立即出票（分配当前最小空座号），订单加入已售名单。</a:t>
            </a:r>
            <a:endParaRPr lang="en-US" sz="1600" noProof="1"/>
          </a:p>
          <a:p>
            <a:pPr marL="4572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已售名单始终按座位号升序排列；候补队列以入队先后为序，先候补先兑现。</a:t>
            </a:r>
            <a:endParaRPr lang="en-US" sz="1600" noProof="1"/>
          </a:p>
          <a:p>
            <a:pPr marL="4572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候补队列为空时，退票仅释放座位；此后购票命令若遇到空座，仍直接出票。</a:t>
            </a:r>
            <a:endParaRPr lang="en-US" sz="1600" noProof="1"/>
          </a:p>
          <a:p>
            <a:pPr marL="4572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测试数据保证：同一姓名在整组数据中最多出现一次；REFUND的对象一定已经出票。不要求设计错误码或输出操作日志。</a:t>
            </a:r>
            <a:endParaRPr lang="en-US" sz="1600" noProof="1"/>
          </a:p>
        </p:txBody>
      </p:sp>
      <p:graphicFrame>
        <p:nvGraphicFramePr>
          <p:cNvPr id="3" name="表格 13"/>
          <p:cNvGraphicFramePr>
            <a:graphicFrameLocks noGrp="1"/>
          </p:cNvGraphicFramePr>
          <p:nvPr/>
        </p:nvGraphicFramePr>
        <p:xfrm>
          <a:off x="623570" y="5106670"/>
          <a:ext cx="10972800" cy="12573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lang="en-US" sz="1950" b="1" noProof="1">
                          <a:solidFill>
                            <a:srgbClr val="17685D"/>
                          </a:solidFill>
                          <a:latin typeface="Consolas"/>
                          <a:ea typeface="Consolas"/>
                        </a:rPr>
                        <a:t>BUY name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50" noProof="1">
                          <a:solidFill>
                            <a:srgbClr val="202622"/>
                          </a:solidFill>
                          <a:latin typeface="微软雅黑"/>
                          <a:ea typeface="微软雅黑"/>
                        </a:rPr>
                        <a:t>购买一张票；有空座则立即出票，否则排入候补队列末尾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lang="en-US" sz="1950" b="1" noProof="1">
                          <a:solidFill>
                            <a:srgbClr val="17685D"/>
                          </a:solidFill>
                          <a:latin typeface="Consolas"/>
                          <a:ea typeface="Consolas"/>
                        </a:rPr>
                        <a:t>REFUND name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50" noProof="1">
                          <a:solidFill>
                            <a:srgbClr val="202622"/>
                          </a:solidFill>
                          <a:latin typeface="微软雅黑"/>
                          <a:ea typeface="微软雅黑"/>
                        </a:rPr>
                        <a:t>退掉name已购得的票；退票后若候补队列非空，队首立即兑现出票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190" y="306070"/>
            <a:ext cx="1185164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000000"/>
                </a:solidFill>
                <a:latin typeface="微软雅黑"/>
                <a:ea typeface="微软雅黑"/>
              </a:rPr>
              <a:t>三、实现要求</a:t>
            </a:r>
            <a:endParaRPr lang="en-US" sz="1600" noProof="1"/>
          </a:p>
          <a:p>
            <a:pPr marL="3429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链表保存已售名单：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使用带头结点的单链表，一个数据结点保存一条订单（姓名和座位号），名单按座位号升序；出票（含候补兑现）时有序插入，退票时按姓名删除。</a:t>
            </a:r>
            <a:endParaRPr lang="en-US" sz="1600" noProof="1"/>
          </a:p>
          <a:p>
            <a:pPr marL="3429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队列保存候补名单：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购票失败时入队，退票后按先进先出的顺序出队兑现。</a:t>
            </a:r>
            <a:endParaRPr lang="en-US" sz="1600" noProof="1"/>
          </a:p>
          <a:p>
            <a:pPr marL="3429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顺序表保存座位状态：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使用长度为S的数组记录每个座位是否已出票；出票时在数组中顺序查找最小空座号。</a:t>
            </a:r>
            <a:endParaRPr lang="en-US" sz="1600" noProof="1"/>
          </a:p>
          <a:p>
            <a:pPr marL="342900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使用C或C++。链表、队列和顺序表自行实现，不能直接使用现成的list、queue、vector等容器代替。队列允许采用固定容量数组，不要求动态扩容或循环队列；姓名也可使用固定长度字符数组。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820" y="162560"/>
            <a:ext cx="11793220" cy="614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四、输入与输出</a:t>
            </a:r>
            <a:endParaRPr lang="en-US" sz="1400" noProof="1"/>
          </a:p>
          <a:p>
            <a:pPr marL="3429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b="1" noProof="1">
                <a:solidFill>
                  <a:srgbClr val="000000"/>
                </a:solidFill>
                <a:latin typeface="微软雅黑"/>
                <a:ea typeface="微软雅黑"/>
              </a:rPr>
              <a:t>从文件tickets.txt读取一组数据</a:t>
            </a: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：</a:t>
            </a:r>
            <a:endParaRPr lang="en-US" sz="1400" noProof="1"/>
          </a:p>
          <a:p>
            <a:pPr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第1行是座位总数S，座位号为1至S。</a:t>
            </a:r>
            <a:endParaRPr lang="en-US" sz="1400" noProof="1"/>
          </a:p>
          <a:p>
            <a:pPr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接下来1行是命令数M，随后M行每行一条命令。</a:t>
            </a:r>
            <a:endParaRPr lang="en-US" sz="1400" noProof="1"/>
          </a:p>
          <a:p>
            <a:pPr marL="3429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b="1" noProof="1">
                <a:solidFill>
                  <a:srgbClr val="000000"/>
                </a:solidFill>
                <a:latin typeface="微软雅黑"/>
                <a:ea typeface="微软雅黑"/>
              </a:rPr>
              <a:t>数据范围：</a:t>
            </a: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0 &lt;= S &lt;= 100，0 &lt;= M &lt;= 200。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姓名长度为1至40，只含英文字母、数字和下划线，不含空格。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命令参数之间用一个空格分隔，输入格式保证正确。</a:t>
            </a:r>
            <a:endParaRPr lang="en-US" sz="1400" noProof="1"/>
          </a:p>
          <a:p>
            <a:pPr marL="3429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全部命令执行结束后，向标准输出写出最终结果：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第1行输出已出票订单数X，随后X行按座位号升序逐行输出，每行为"座位号 姓名"。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接下来1行输出候补人数Y，随后Y行按排队先后（队首在前）逐行输出姓名。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不输出中间状态、命令编号或成功提示。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若已出票名单为空，订单部分只输出一行0；若候补队列为空，候补部分只输出一行0。</a:t>
            </a:r>
            <a:endParaRPr lang="en-US" sz="1400" noProof="1"/>
          </a:p>
          <a:p>
            <a:pPr marL="800100">
              <a:lnSpc>
                <a:spcPct val="120000"/>
              </a:lnSpc>
              <a:spcBef>
                <a:spcPts val="600"/>
              </a:spcBef>
              <a:buChar char="•"/>
            </a:pPr>
            <a:r>
              <a:rPr lang="en-US" sz="2000" noProof="1">
                <a:solidFill>
                  <a:srgbClr val="000000"/>
                </a:solidFill>
                <a:latin typeface="微软雅黑"/>
                <a:ea typeface="微软雅黑"/>
              </a:rPr>
              <a:t>若M=0，不执行任何命令，直接输出两行0。</a:t>
            </a:r>
            <a:endParaRPr lang="en-US" sz="16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820" y="234950"/>
            <a:ext cx="4897120" cy="43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000000"/>
                </a:solidFill>
                <a:latin typeface="微软雅黑"/>
                <a:ea typeface="微软雅黑"/>
              </a:rPr>
              <a:t>五、测试示例</a:t>
            </a:r>
            <a:endParaRPr lang="en-US" sz="2800" noProof="1"/>
          </a:p>
        </p:txBody>
      </p:sp>
      <p:sp>
        <p:nvSpPr>
          <p:cNvPr id="3" name="文本框 4"/>
          <p:cNvSpPr txBox="1"/>
          <p:nvPr/>
        </p:nvSpPr>
        <p:spPr>
          <a:xfrm>
            <a:off x="787400" y="114173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输入样例：</a:t>
            </a:r>
            <a:endParaRPr lang="en-US" sz="2400" noProof="1"/>
          </a:p>
        </p:txBody>
      </p:sp>
      <p:sp>
        <p:nvSpPr>
          <p:cNvPr id="4" name="文本框 2-shape"/>
          <p:cNvSpPr/>
          <p:nvPr/>
        </p:nvSpPr>
        <p:spPr>
          <a:xfrm>
            <a:off x="767080" y="1549400"/>
            <a:ext cx="2286000" cy="2159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5" name="文本框 2-text"/>
          <p:cNvSpPr txBox="1"/>
          <p:nvPr/>
        </p:nvSpPr>
        <p:spPr>
          <a:xfrm>
            <a:off x="767080" y="1549400"/>
            <a:ext cx="228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Tom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Jerry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Spike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REFUND Tom</a:t>
            </a:r>
            <a:endParaRPr lang="en-US" sz="2000" noProof="1"/>
          </a:p>
        </p:txBody>
      </p:sp>
      <p:sp>
        <p:nvSpPr>
          <p:cNvPr id="6" name="文本框 5"/>
          <p:cNvSpPr txBox="1"/>
          <p:nvPr/>
        </p:nvSpPr>
        <p:spPr>
          <a:xfrm>
            <a:off x="787400" y="406400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输出样例：</a:t>
            </a:r>
            <a:endParaRPr lang="en-US" sz="2400" noProof="1"/>
          </a:p>
        </p:txBody>
      </p:sp>
      <p:sp>
        <p:nvSpPr>
          <p:cNvPr id="7" name="文本框 3-shape"/>
          <p:cNvSpPr/>
          <p:nvPr/>
        </p:nvSpPr>
        <p:spPr>
          <a:xfrm>
            <a:off x="767080" y="4572000"/>
            <a:ext cx="2286000" cy="14605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8" name="文本框 3-text"/>
          <p:cNvSpPr txBox="1"/>
          <p:nvPr/>
        </p:nvSpPr>
        <p:spPr>
          <a:xfrm>
            <a:off x="767080" y="4572000"/>
            <a:ext cx="2286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1 Spike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 Jerry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0</a:t>
            </a:r>
            <a:endParaRPr lang="en-US" sz="2000" noProof="1"/>
          </a:p>
        </p:txBody>
      </p:sp>
      <p:sp>
        <p:nvSpPr>
          <p:cNvPr id="9" name="文本框 8"/>
          <p:cNvSpPr txBox="1"/>
          <p:nvPr/>
        </p:nvSpPr>
        <p:spPr>
          <a:xfrm>
            <a:off x="4892040" y="114173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输入样例：</a:t>
            </a:r>
            <a:endParaRPr lang="en-US" sz="2400" noProof="1"/>
          </a:p>
        </p:txBody>
      </p:sp>
      <p:sp>
        <p:nvSpPr>
          <p:cNvPr id="10" name="文本框 6-shape"/>
          <p:cNvSpPr/>
          <p:nvPr/>
        </p:nvSpPr>
        <p:spPr>
          <a:xfrm>
            <a:off x="4872990" y="1549400"/>
            <a:ext cx="2286000" cy="2159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11" name="文本框 6-text"/>
          <p:cNvSpPr txBox="1"/>
          <p:nvPr/>
        </p:nvSpPr>
        <p:spPr>
          <a:xfrm>
            <a:off x="4872990" y="1549400"/>
            <a:ext cx="2286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Kitty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Dora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Boots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Diego</a:t>
            </a:r>
            <a:endParaRPr lang="en-US" sz="2000" noProof="1"/>
          </a:p>
        </p:txBody>
      </p:sp>
      <p:sp>
        <p:nvSpPr>
          <p:cNvPr id="12" name="文本框 9"/>
          <p:cNvSpPr txBox="1"/>
          <p:nvPr/>
        </p:nvSpPr>
        <p:spPr>
          <a:xfrm>
            <a:off x="4892040" y="406400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输出样例：</a:t>
            </a:r>
            <a:endParaRPr lang="en-US" sz="2400" noProof="1"/>
          </a:p>
        </p:txBody>
      </p:sp>
      <p:sp>
        <p:nvSpPr>
          <p:cNvPr id="13" name="文本框 7-shape"/>
          <p:cNvSpPr/>
          <p:nvPr/>
        </p:nvSpPr>
        <p:spPr>
          <a:xfrm>
            <a:off x="4872990" y="4572000"/>
            <a:ext cx="2286000" cy="203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14" name="文本框 7-text"/>
          <p:cNvSpPr txBox="1"/>
          <p:nvPr/>
        </p:nvSpPr>
        <p:spPr>
          <a:xfrm>
            <a:off x="4872990" y="4572000"/>
            <a:ext cx="2286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1 Kitty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 Dora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Boots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Diego</a:t>
            </a:r>
            <a:endParaRPr lang="en-US" sz="2000" noProof="1"/>
          </a:p>
        </p:txBody>
      </p:sp>
      <p:sp>
        <p:nvSpPr>
          <p:cNvPr id="15" name="文本框 12"/>
          <p:cNvSpPr txBox="1"/>
          <p:nvPr/>
        </p:nvSpPr>
        <p:spPr>
          <a:xfrm>
            <a:off x="9069070" y="114173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输入样例：</a:t>
            </a:r>
            <a:endParaRPr lang="en-US" sz="2400" noProof="1"/>
          </a:p>
        </p:txBody>
      </p:sp>
      <p:sp>
        <p:nvSpPr>
          <p:cNvPr id="16" name="文本框 10-shape"/>
          <p:cNvSpPr/>
          <p:nvPr/>
        </p:nvSpPr>
        <p:spPr>
          <a:xfrm>
            <a:off x="9048750" y="1549400"/>
            <a:ext cx="2286000" cy="15875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17" name="文本框 10-text"/>
          <p:cNvSpPr txBox="1"/>
          <p:nvPr/>
        </p:nvSpPr>
        <p:spPr>
          <a:xfrm>
            <a:off x="9048750" y="1549400"/>
            <a:ext cx="2286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BUY Max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REFUND Max</a:t>
            </a:r>
            <a:endParaRPr lang="en-US" sz="2000" noProof="1"/>
          </a:p>
        </p:txBody>
      </p:sp>
      <p:sp>
        <p:nvSpPr>
          <p:cNvPr id="18" name="文本框 13"/>
          <p:cNvSpPr txBox="1"/>
          <p:nvPr/>
        </p:nvSpPr>
        <p:spPr>
          <a:xfrm>
            <a:off x="9069070" y="4064000"/>
            <a:ext cx="176276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输出样例：</a:t>
            </a:r>
            <a:endParaRPr lang="en-US" sz="2400" noProof="1"/>
          </a:p>
        </p:txBody>
      </p:sp>
      <p:sp>
        <p:nvSpPr>
          <p:cNvPr id="19" name="文本框 11-shape"/>
          <p:cNvSpPr/>
          <p:nvPr/>
        </p:nvSpPr>
        <p:spPr>
          <a:xfrm>
            <a:off x="9048750" y="4572000"/>
            <a:ext cx="2286000" cy="9525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5400000" algn="bl" rotWithShape="0">
              <a:srgbClr val="000000"/>
            </a:outerShdw>
          </a:effectLst>
        </p:spPr>
      </p:sp>
      <p:sp>
        <p:nvSpPr>
          <p:cNvPr id="20" name="文本框 11-text"/>
          <p:cNvSpPr txBox="1"/>
          <p:nvPr/>
        </p:nvSpPr>
        <p:spPr>
          <a:xfrm>
            <a:off x="9048750" y="4572000"/>
            <a:ext cx="228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0</a:t>
            </a:r>
            <a:endParaRPr lang="en-US" sz="2000" noProof="1"/>
          </a:p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0</a:t>
            </a:r>
            <a:endParaRPr lang="en-US" sz="2000" noProof="1"/>
          </a:p>
        </p:txBody>
      </p:sp>
      <p:cxnSp>
        <p:nvCxnSpPr>
          <p:cNvPr id="21" name="直接连接符 14"/>
          <p:cNvCxnSpPr/>
          <p:nvPr/>
        </p:nvCxnSpPr>
        <p:spPr>
          <a:xfrm>
            <a:off x="4001770" y="652780"/>
            <a:ext cx="6350" cy="60172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2" name="直接连接符 15"/>
          <p:cNvCxnSpPr/>
          <p:nvPr/>
        </p:nvCxnSpPr>
        <p:spPr>
          <a:xfrm>
            <a:off x="8064500" y="652780"/>
            <a:ext cx="6350" cy="60172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190" y="306070"/>
            <a:ext cx="1185164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000000"/>
                </a:solidFill>
                <a:latin typeface="微软雅黑"/>
                <a:ea typeface="微软雅黑"/>
              </a:rPr>
              <a:t>六、评价标准</a:t>
            </a:r>
            <a:endParaRPr lang="en-US" sz="1600" noProof="1"/>
          </a:p>
          <a:p>
            <a:pPr marL="342900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优秀：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程序运行稳定，复杂案例与连续退票兑现、名单有序插入结果正确；代码清晰，能说明实现思路。</a:t>
            </a:r>
            <a:endParaRPr lang="en-US" sz="1600" noProof="1"/>
          </a:p>
          <a:p>
            <a:pPr marL="342900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良好：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程序运行正常，购票、退票和候补兑现功能正确，能完成主要案例，代码较规范。</a:t>
            </a:r>
            <a:endParaRPr lang="en-US" sz="1600" noProof="1"/>
          </a:p>
          <a:p>
            <a:pPr marL="342900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通过：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程序能够正常运行，按要求使用链表、队列和顺序表，能正确完成简单案例。</a:t>
            </a:r>
            <a:endParaRPr lang="en-US" sz="1600" noProof="1"/>
          </a:p>
          <a:p>
            <a:pPr marL="342900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2400" b="1" noProof="1">
                <a:solidFill>
                  <a:srgbClr val="000000"/>
                </a:solidFill>
                <a:latin typeface="微软雅黑"/>
                <a:ea typeface="微软雅黑"/>
              </a:rPr>
              <a:t>未通过：</a:t>
            </a:r>
            <a:r>
              <a:rPr lang="en-US" sz="2400" noProof="1">
                <a:solidFill>
                  <a:srgbClr val="000000"/>
                </a:solidFill>
                <a:latin typeface="微软雅黑"/>
                <a:ea typeface="微软雅黑"/>
              </a:rPr>
              <a:t>程序无法正常运行，或缺少基本功能，或未按要求使用三种数据结构。</a:t>
            </a:r>
            <a:endParaRPr lang="en-US" sz="1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宽屏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MiSans</vt:lpstr>
      <vt:lpstr>微软雅黑</vt:lpstr>
      <vt:lpstr>Consolas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编程大作业-可候补的票务系统-20260922-v1.0</dc:title>
  <cp:lastModifiedBy>晟中 张</cp:lastModifiedBy>
  <cp:revision>1</cp:revision>
  <dcterms:modified xsi:type="dcterms:W3CDTF">2026-09-22T14:11:00Z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